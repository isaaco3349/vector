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1000" y="2788920"/>
            <a:ext cx="6583680" cy="658368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3703320"/>
            <a:ext cx="4754880" cy="475488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0" y="4617720"/>
            <a:ext cx="2926080" cy="292608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8229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Cambria"/>
              </a:rPr>
              <a:t>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1518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00C285"/>
                </a:solidFill>
                <a:latin typeface="Cambria"/>
              </a:rPr>
              <a:t>USDC-native DeFi on Arc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64992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ADCFC"/>
                </a:solidFill>
                <a:latin typeface="Calibri"/>
              </a:rPr>
              <a:t>One application to send, swap, bridge and earn USDC — reachable with a Google sign-in or your own self-custody wallet.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vectorprotocol.pro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8990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1C8"/>
                </a:solidFill>
                <a:latin typeface="Calibri"/>
              </a:rPr>
              <a:t>Arc Testnet · chain 5042002     ·     Circle / Arc ecosystem grant submission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0A1128"/>
                </a:solidFill>
                <a:latin typeface="Cambria"/>
              </a:rPr>
              <a:t>Holding USDC is easy. Putting it to work isn't.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96384"/>
                </a:solidFill>
                <a:latin typeface="Calibri"/>
              </a:rPr>
              <a:t>Four problems every stablecoin holder runs into — none of them the user's fault.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358384" cy="1773936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77824" y="2157984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94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A1128"/>
                </a:solidFill>
                <a:latin typeface="Cambria"/>
              </a:rPr>
              <a:t>Four apps for one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596896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A wallet to hold it, a bridge to move it, an exchange to trade it, a separate protocol to earn on it. Four interfaces and four trust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47088"/>
            <a:ext cx="5358384" cy="1773936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65392" y="2157984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2194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A1128"/>
                </a:solidFill>
                <a:latin typeface="Cambria"/>
              </a:rPr>
              <a:t>Custody is an unfair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2596896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Self-custody means a seed phrase most people will eventually lose. Custodial means handing over the keys, and the counterparty risk that follows.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31920"/>
            <a:ext cx="5358384" cy="1773936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77824" y="4242816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279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A1128"/>
                </a:solidFill>
                <a:latin typeface="Cambria"/>
              </a:rPr>
              <a:t>Gas is a second 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681728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You hold USDC, but cannot move it until you have acquired an unrelated volatile token first. The very first transaction is the hardest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931920"/>
            <a:ext cx="5358384" cy="1773936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65392" y="4242816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4279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A1128"/>
                </a:solidFill>
                <a:latin typeface="Cambria"/>
              </a:rPr>
              <a:t>One asset, a dozen addresses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4681728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USDC exists natively on more than ten chains. Moving between them means wrapped representations, or bridges whose security you must judge yourself.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9638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0A1128"/>
                </a:solidFill>
                <a:latin typeface="Cambria"/>
              </a:rPr>
              <a:t>Vector is one surface for all of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96384"/>
                </a:solidFill>
                <a:latin typeface="Calibri"/>
              </a:rPr>
              <a:t>Built on Arc, where the stablecoin is the native asset — not a token sitting on top of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02152" cy="26974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96112" y="2029968"/>
            <a:ext cx="457200" cy="457200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5176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USDC-native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72384"/>
            <a:ext cx="28437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On Arc, USDC pays for gas. There is no second token to acquire and no swap standing between a new user and their first transaction.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502152" cy="26974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90872" y="2029968"/>
            <a:ext cx="457200" cy="457200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65176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Non-custodial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72384"/>
            <a:ext cx="28437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Keys stay with the user on both sign-in paths. Vector holds no balances, operates no pool, and has no withdrawal queue to stand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783080"/>
            <a:ext cx="3502152" cy="26974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85632" y="2029968"/>
            <a:ext cx="457200" cy="457200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65176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Complete, not a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072384"/>
            <a:ext cx="28437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Send, receive, swap, bridge, earn and history are all implemented and usable today — not a landing page with a waitlist.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828032"/>
            <a:ext cx="28437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00C285"/>
                </a:solidFill>
                <a:latin typeface="Cambri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4126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60">
                <a:solidFill>
                  <a:srgbClr val="596384"/>
                </a:solidFill>
                <a:latin typeface="Calibri"/>
              </a:rPr>
              <a:t>ACTIONS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828032"/>
            <a:ext cx="28437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00C285"/>
                </a:solidFill>
                <a:latin typeface="Cambria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554126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60">
                <a:solidFill>
                  <a:srgbClr val="596384"/>
                </a:solidFill>
                <a:latin typeface="Calibri"/>
              </a:rPr>
              <a:t>NETWORKS REACHABLE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828032"/>
            <a:ext cx="28437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00C285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554126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60">
                <a:solidFill>
                  <a:srgbClr val="596384"/>
                </a:solidFill>
                <a:latin typeface="Calibri"/>
              </a:rPr>
              <a:t>WALLET TYPES, FULL PARITY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9638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0A1128"/>
                </a:solidFill>
                <a:latin typeface="Cambria"/>
              </a:rPr>
              <a:t>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96384"/>
                </a:solidFill>
                <a:latin typeface="Calibri"/>
              </a:rPr>
              <a:t>Every capability below is implemented and running on Arc Testnet at vectorprotocol.pro.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02152" cy="173736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59536" y="2139696"/>
            <a:ext cx="402336" cy="402336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7627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1128"/>
                </a:solidFill>
                <a:latin typeface="Cambria"/>
              </a:rPr>
              <a:t>Send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88336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Native USDC transfers on Arc with balance-aware entry and explorer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00400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40">
                <a:solidFill>
                  <a:srgbClr val="00C285"/>
                </a:solidFill>
                <a:latin typeface="Calibri"/>
              </a:rPr>
              <a:t>CIRCLE W3S REST · WAGMI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47088"/>
            <a:ext cx="3502152" cy="173736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54296" y="2139696"/>
            <a:ext cx="402336" cy="402336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17627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1128"/>
                </a:solidFill>
                <a:latin typeface="Cambria"/>
              </a:rPr>
              <a:t>Receive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688336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Funding address with QR code, plus a direct route to Circle's Arc faucet.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200400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40">
                <a:solidFill>
                  <a:srgbClr val="00C285"/>
                </a:solidFill>
                <a:latin typeface="Calibri"/>
              </a:rPr>
              <a:t>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847088"/>
            <a:ext cx="3502152" cy="173736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49056" y="2139696"/>
            <a:ext cx="402336" cy="402336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7627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1128"/>
                </a:solidFill>
                <a:latin typeface="Cambria"/>
              </a:rPr>
              <a:t>Swap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688336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USDC ↔ EURC through Circle's swap service, with user-set slippage tolerance.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00400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40">
                <a:solidFill>
                  <a:srgbClr val="00C285"/>
                </a:solidFill>
                <a:latin typeface="Calibri"/>
              </a:rPr>
              <a:t>APP-KIT · SWAP-KIT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58768"/>
            <a:ext cx="3502152" cy="173736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9536" y="4151376"/>
            <a:ext cx="402336" cy="402336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1128"/>
                </a:solidFill>
                <a:latin typeface="Cambria"/>
              </a:rPr>
              <a:t>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700016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Burn-and-mint USDC transfers between Arc and eight other testnets.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212079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40">
                <a:solidFill>
                  <a:srgbClr val="00C285"/>
                </a:solidFill>
                <a:latin typeface="Calibri"/>
              </a:rPr>
              <a:t>PROVIDER-CCTP-V2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3858768"/>
            <a:ext cx="3502152" cy="173736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654296" y="4151376"/>
            <a:ext cx="402336" cy="402336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18795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1128"/>
                </a:solidFill>
                <a:latin typeface="Cambria"/>
              </a:rPr>
              <a:t>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4700016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Deposit and withdraw USDC in Arc yield vaults discovered at runtime.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5212079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40">
                <a:solidFill>
                  <a:srgbClr val="00C285"/>
                </a:solidFill>
                <a:latin typeface="Calibri"/>
              </a:rPr>
              <a:t>EARN-KIT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858768"/>
            <a:ext cx="3502152" cy="173736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449056" y="4151376"/>
            <a:ext cx="402336" cy="402336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87952"/>
            <a:ext cx="2404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A1128"/>
                </a:solidFill>
                <a:latin typeface="Cambria"/>
              </a:rPr>
              <a:t>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700016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Recent activity for both wallet types, every entry linked to the explorer.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5212079"/>
            <a:ext cx="2916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40">
                <a:solidFill>
                  <a:srgbClr val="00C285"/>
                </a:solidFill>
                <a:latin typeface="Calibri"/>
              </a:rPr>
              <a:t>NATIVE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9638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Cambria"/>
              </a:rPr>
              <a:t>Two front doors. One feature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3A1C8"/>
                </a:solidFill>
                <a:latin typeface="Calibri"/>
              </a:rPr>
              <a:t>Most apps pick a wallet model and exclude everyone else. Vector implements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358384" cy="1810512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96112" y="2121408"/>
            <a:ext cx="457200" cy="457200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2176272"/>
            <a:ext cx="40782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Google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98064"/>
            <a:ext cx="470001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A Circle W3S programmable wallet, secured by a PIN. No seed phrase and no browser extension. Circle constructs each transaction and the user authorises it through a challenge.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47088"/>
            <a:ext cx="5358384" cy="1810512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83680" y="2121408"/>
            <a:ext cx="457200" cy="457200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176272"/>
            <a:ext cx="40782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Your own wallet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98064"/>
            <a:ext cx="470001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MetaMask and other injected wallets through wagmi. Keys never leave the user's device — Vector requests a signature and nothing more.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684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C285"/>
                </a:solidFill>
                <a:latin typeface="Cambria"/>
              </a:rPr>
              <a:t>Send · Swap · Bridge · Earn — implemented on both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43984"/>
            <a:ext cx="11057839" cy="1298448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663440"/>
            <a:ext cx="1032631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This is two independent implementations, not a wrapper. Circle's viem adapter cannot drive a W3S wallet, so the Google path is built directly on Circle's REST contract-execution and challenge APIs. That is why social-login users get the same four capabilities rather than a reduced subset — and it is the hardest engineering work in the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1C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0A1128"/>
                </a:solidFill>
                <a:latin typeface="Cambria"/>
              </a:rPr>
              <a:t>Built deep on Circle's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96384"/>
                </a:solidFill>
                <a:latin typeface="Calibri"/>
              </a:rPr>
              <a:t>Five first-party SDKs, all in production code paths — not one integration and four logos.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6711696" cy="6400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7" y="1975104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1128"/>
                </a:solidFill>
                <a:latin typeface="Calibri"/>
              </a:rPr>
              <a:t>app-kit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1284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C285"/>
                </a:solidFill>
                <a:latin typeface="Calibri"/>
              </a:rPr>
              <a:t>v1.12.0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066543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Swap pricing and execution, bridge estimation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06040"/>
            <a:ext cx="6711696" cy="6400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734056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1128"/>
                </a:solidFill>
                <a:latin typeface="Calibri"/>
              </a:rPr>
              <a:t>earn-kit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71800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C285"/>
                </a:solidFill>
                <a:latin typeface="Calibri"/>
              </a:rPr>
              <a:t>v1.5.0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825496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Vault discovery, deposit and withdrawal quotes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64991"/>
            <a:ext cx="6711696" cy="6400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9300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1128"/>
                </a:solidFill>
                <a:latin typeface="Calibri"/>
              </a:rPr>
              <a:t>provider-cctp-v2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730752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C285"/>
                </a:solidFill>
                <a:latin typeface="Calibri"/>
              </a:rPr>
              <a:t>v1.10.2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584448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Cross-chain USDC transfer over CCTP 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23944"/>
            <a:ext cx="6711696" cy="6400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51959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1128"/>
                </a:solidFill>
                <a:latin typeface="Calibri"/>
              </a:rPr>
              <a:t>adapter-viem-v2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89704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C285"/>
                </a:solidFill>
                <a:latin typeface="Calibri"/>
              </a:rPr>
              <a:t>v1.15.0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4343400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Signing bridge for external wallets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82896"/>
            <a:ext cx="6711696" cy="640080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0912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A1128"/>
                </a:solidFill>
                <a:latin typeface="Calibri"/>
              </a:rPr>
              <a:t>w3s-pw-web-sdk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248656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C285"/>
                </a:solidFill>
                <a:latin typeface="Calibri"/>
              </a:rPr>
              <a:t>v1.1.11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102352"/>
            <a:ext cx="3511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6384"/>
                </a:solidFill>
                <a:latin typeface="Calibri"/>
              </a:rPr>
              <a:t>Google-login wallet and challenge execution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847088"/>
            <a:ext cx="4016959" cy="3794760"/>
          </a:xfrm>
          <a:prstGeom prst="roundRect">
            <a:avLst>
              <a:gd name="adj" fmla="val 3500"/>
            </a:avLst>
          </a:prstGeom>
          <a:solidFill>
            <a:srgbClr val="E6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936992" y="2157984"/>
            <a:ext cx="457200" cy="457200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798064"/>
            <a:ext cx="33585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Nothing guessed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255264"/>
            <a:ext cx="3358591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96384"/>
                </a:solidFill>
                <a:latin typeface="Calibri"/>
              </a:rPr>
              <a:t>Vault addresses are discovered through Circle's own service rather than hardcoded. Every chain id, CCTP domain and contract address in Vector was copied verbatim from installed first-party SDK source.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96384"/>
                </a:solidFill>
                <a:latin typeface="Calibri"/>
              </a:rPr>
              <a:t>Where a value could not be verified, the feature was withheld rather than shipped on an assumption.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9638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0A1128"/>
                </a:solidFill>
                <a:latin typeface="Cambria"/>
              </a:rPr>
              <a:t>USDC in and out of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96384"/>
                </a:solidFill>
                <a:latin typeface="Calibri"/>
              </a:rPr>
              <a:t>Nine networks in one flow, over Circle's CCTP v2 — burn and mint, with no wrapped assets and no third-party liquidity pool.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83664"/>
            <a:ext cx="3291840" cy="2788920"/>
          </a:xfrm>
          <a:prstGeom prst="roundRect">
            <a:avLst>
              <a:gd name="adj" fmla="val 3500"/>
            </a:avLst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285"/>
                </a:solidFill>
                <a:latin typeface="Calibri"/>
              </a:rPr>
              <a:t>Testnet · 5042002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8444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Home chain. USDC is the native gas asset.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88366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Ethereum Sepolia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88366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Base Sepolia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61518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Arbitrum Sepolia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61518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Optimism Sepolia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334670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Polygon Amoy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34670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Avalanche Fuji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407822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Unichain Sepolia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078224"/>
            <a:ext cx="3529584" cy="603504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0A1128"/>
                </a:solidFill>
                <a:latin typeface="Calibri"/>
              </a:rPr>
              <a:t>Linea Sepolia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56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96384"/>
                </a:solidFill>
                <a:latin typeface="Calibri"/>
              </a:rPr>
              <a:t>Each destination's CCTP domain and TokenMessenger address was taken from Circle's SDK source and cross-checked before the route was enabled — eight destinations verified, none assumed.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9638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468879" y="5669280"/>
            <a:ext cx="6035040" cy="603504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6400800"/>
            <a:ext cx="4572000" cy="457200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Cambria"/>
              </a:rPr>
              <a:t>Why Arc changes the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38528"/>
            <a:ext cx="3502152" cy="2395728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249424"/>
            <a:ext cx="28437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0C285"/>
                </a:solidFill>
                <a:latin typeface="Cambria"/>
              </a:rPr>
              <a:t>Gas is USDC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44368"/>
            <a:ext cx="28437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A new user's first transaction needs no second asset. The most common onboarding failure in crypto simply stops existing.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38528"/>
            <a:ext cx="3502152" cy="2395728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90872" y="2249424"/>
            <a:ext cx="28437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0C285"/>
                </a:solidFill>
                <a:latin typeface="Cambria"/>
              </a:rPr>
              <a:t>18 and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944368"/>
            <a:ext cx="28437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Native USDC is 18-decimal for gas and 6-decimal as an ERC-20. Vector handles both, and is built to fail loudly rather than guess when the two disagree.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938528"/>
            <a:ext cx="3502152" cy="2395728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85632" y="2249424"/>
            <a:ext cx="28437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0C285"/>
                </a:solidFill>
                <a:latin typeface="Cambria"/>
              </a:rPr>
              <a:t>Stablecoin-native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944368"/>
            <a:ext cx="28437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Balances, fees and yield are all denominated in the asset the user actually came to 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0118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3A1C8"/>
                </a:solidFill>
                <a:latin typeface="Calibri"/>
              </a:rPr>
              <a:t>Arc Testnet today. Chain configuration lives in a single module, so mainnet is a configuration change and a re-verification pass — not a rewrite.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1C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0A1128"/>
                </a:solidFill>
                <a:latin typeface="Cambria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957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96384"/>
                </a:solidFill>
                <a:latin typeface="Calibri"/>
              </a:rPr>
              <a:t>Near-term work is scoped and largely written; later phases depend on Arc's own mainnet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02152" cy="3310128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96112" y="2139696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21762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487168"/>
            <a:ext cx="2313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50">
                <a:solidFill>
                  <a:srgbClr val="00C285"/>
                </a:solidFill>
                <a:latin typeface="Calibri"/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26080"/>
            <a:ext cx="28437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Complete swap-route coverage on Arc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Restore cirBTC once its route is confirmed end to end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A 0.1% protocol fee on swaps as first revenue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On-chain send attribution for indexable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47088"/>
            <a:ext cx="3502152" cy="3310128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90872" y="2139696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21762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487168"/>
            <a:ext cx="2313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50">
                <a:solidFill>
                  <a:srgbClr val="00C285"/>
                </a:solidFill>
                <a:latin typeface="Calibri"/>
              </a:rP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926080"/>
            <a:ext cx="28437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Cross-chain Earn: deposit Base or Ethereum USDC straight into an Arc vault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Scheduled and recurring transfers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Portfolio view with per-asset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847088"/>
            <a:ext cx="3502152" cy="3310128"/>
          </a:xfrm>
          <a:prstGeom prst="roundRect">
            <a:avLst>
              <a:gd name="adj" fmla="val 3500"/>
            </a:avLst>
          </a:prstGeom>
          <a:solidFill>
            <a:srgbClr val="F3F6FC"/>
          </a:solidFill>
          <a:ln w="12700">
            <a:solidFill>
              <a:srgbClr val="E1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85632" y="2139696"/>
            <a:ext cx="420624" cy="420624"/>
          </a:xfrm>
          <a:prstGeom prst="ellipse">
            <a:avLst/>
          </a:prstGeom>
          <a:solidFill>
            <a:srgbClr val="00C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2176272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A1128"/>
                </a:solidFill>
                <a:latin typeface="Cambria"/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487168"/>
            <a:ext cx="2313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50">
                <a:solidFill>
                  <a:srgbClr val="00C285"/>
                </a:solidFill>
                <a:latin typeface="Calibri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926080"/>
            <a:ext cx="28437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Arc mainnet, with a full re-verification pass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USDT support once a first-party Arc address exists</a:t>
            </a:r>
          </a:p>
          <a:p>
            <a:pPr algn="l" marL="237744" indent="-237744">
              <a:lnSpc>
                <a:spcPct val="126000"/>
              </a:lnSpc>
              <a:spcAft>
                <a:spcPts val="700"/>
              </a:spcAft>
            </a:pPr>
            <a:r>
              <a:rPr sz="1200" b="0">
                <a:solidFill>
                  <a:srgbClr val="596384"/>
                </a:solidFill>
                <a:latin typeface="Calibri"/>
              </a:rPr>
              <a:t>—  A public API for USDC-native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9638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59" y="-2926080"/>
            <a:ext cx="6766560" cy="676656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59" y="-2011680"/>
            <a:ext cx="4937760" cy="493776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-1097280"/>
            <a:ext cx="3108960" cy="3108960"/>
          </a:xfrm>
          <a:prstGeom prst="ellipse">
            <a:avLst/>
          </a:prstGeom>
          <a:noFill/>
          <a:ln w="19050">
            <a:solidFill>
              <a:srgbClr val="1E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12064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Cambria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C285"/>
                </a:solidFill>
                <a:latin typeface="Cambria"/>
              </a:rPr>
              <a:t>Three tracks to real-money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95728"/>
            <a:ext cx="3502152" cy="1975104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688336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Cambria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27248"/>
            <a:ext cx="2843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Cross-chain Earn, mainnet readiness, and the re-verification pass every address and route needs before real funds are involved.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395728"/>
            <a:ext cx="3502152" cy="1975104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90872" y="2688336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Cambria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127248"/>
            <a:ext cx="2843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Independent review of the Circle integration and of Vector's send-router contract before anything is deployed to mainnet.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395728"/>
            <a:ext cx="3502152" cy="1975104"/>
          </a:xfrm>
          <a:prstGeom prst="roundRect">
            <a:avLst>
              <a:gd name="adj" fmla="val 3500"/>
            </a:avLst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85632" y="2688336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Cambria"/>
              </a:rPr>
              <a:t>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127248"/>
            <a:ext cx="28437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ADCFC"/>
                </a:solidFill>
                <a:latin typeface="Calibri"/>
              </a:rPr>
              <a:t>Documentation and worked examples so other builders can integrate Arc and CCTP without repeating our discovery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18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Vector already runs on Arc. What's left is everything that has to be true before mainnet.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8523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C285"/>
                </a:solidFill>
                <a:latin typeface="Calibri"/>
              </a:rPr>
              <a:t>vectorprotocol.pro     ·     github.com/Isaaco3349/Vector     ·     isaaconyeomah@gmail.com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3A1C8"/>
                </a:solidFill>
                <a:latin typeface="Calibri"/>
              </a:rPr>
              <a:t>Non-custodial · USDC-native · live on Arc Testnet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1996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3A1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